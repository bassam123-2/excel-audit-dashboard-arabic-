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76B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411480" y="45720"/>
            <a:ext cx="290856" cy="292608"/>
          </a:xfrm>
          <a:prstGeom prst="rect">
            <a:avLst/>
          </a:prstGeom>
        </p:spPr>
      </p:pic>
      <p:sp>
        <p:nvSpPr>
          <p:cNvPr id="4" name="TextBox 3"/>
          <p:cNvSpPr txBox="1"/>
          <p:nvPr/>
        </p:nvSpPr>
        <p:spPr>
          <a:xfrm>
            <a:off x="914400" y="73152"/>
            <a:ext cx="10911535" cy="274320"/>
          </a:xfrm>
          <a:prstGeom prst="rect">
            <a:avLst/>
          </a:prstGeom>
          <a:noFill/>
        </p:spPr>
        <p:txBody>
          <a:bodyPr wrap="none">
            <a:spAutoFit/>
          </a:bodyPr>
          <a:lstStyle/>
          <a:p>
            <a:pPr algn="r"/>
            <a:r>
              <a:rPr sz="1200" b="1">
                <a:solidFill>
                  <a:srgbClr val="000000"/>
                </a:solidFill>
              </a:rPr>
              <a:t>النص النظامي</a:t>
            </a:r>
          </a:p>
        </p:txBody>
      </p:sp>
      <p:sp>
        <p:nvSpPr>
          <p:cNvPr id="5" name="Rectangle 4"/>
          <p:cNvSpPr/>
          <p:nvPr/>
        </p:nvSpPr>
        <p:spPr>
          <a:xfrm>
            <a:off x="411480" y="457200"/>
            <a:ext cx="11368735" cy="1071676"/>
          </a:xfrm>
          <a:prstGeom prst="rect">
            <a:avLst/>
          </a:prstGeom>
          <a:solidFill>
            <a:srgbClr val="F0FDF4"/>
          </a:solidFill>
          <a:ln>
            <a:solidFill>
              <a:srgbClr val="1453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21208" y="512064"/>
            <a:ext cx="11149279" cy="961948"/>
          </a:xfrm>
          <a:prstGeom prst="rect">
            <a:avLst/>
          </a:prstGeom>
          <a:noFill/>
        </p:spPr>
        <p:txBody>
          <a:bodyPr wrap="square" lIns="50800" rIns="50800" tIns="38100" bIns="38100">
            <a:spAutoFit/>
          </a:bodyPr>
          <a:lstStyle/>
          <a:p>
            <a:pPr algn="r"/>
            <a:r>
              <a:rPr sz="1200" b="0">
                <a:solidFill>
                  <a:srgbClr val="000000"/>
                </a:solidFill>
              </a:rPr>
              <a:t>يتولى مفتشو الضبط الذين يعينهم وزير التجارة مجتمعين أو منفردين ضبط ما يقع من مخالفات لأحكام النظام والقرارات الصادرة تنفيذا له والتحفظ على السلع موضوع المخالفة والمستندات المتعلقة بها وأخذ العينات وحجز الأصناف التي توجد شبهة قوية على مخالفتها للنظام والتحقيق مع المخالفين وإعداد المحاضر اللازمة وإحالتها إلى الجهة المختصة.</a:t>
            </a:r>
          </a:p>
        </p:txBody>
      </p:sp>
      <p:sp>
        <p:nvSpPr>
          <p:cNvPr id="7" name="TextBox 6"/>
          <p:cNvSpPr txBox="1"/>
          <p:nvPr/>
        </p:nvSpPr>
        <p:spPr>
          <a:xfrm>
            <a:off x="411480" y="6556248"/>
            <a:ext cx="11368735" cy="256032"/>
          </a:xfrm>
          <a:prstGeom prst="rect">
            <a:avLst/>
          </a:prstGeom>
          <a:noFill/>
        </p:spPr>
        <p:txBody>
          <a:bodyPr wrap="none">
            <a:spAutoFit/>
          </a:bodyPr>
          <a:lstStyle/>
          <a:p>
            <a:pPr algn="r"/>
            <a:r>
              <a:rPr sz="900" b="0">
                <a:solidFill>
                  <a:srgbClr val="6B7280"/>
                </a:solidFill>
              </a:rPr>
              <a:t>تاريخ التصدير: 2026-05-15</a:t>
            </a:r>
          </a:p>
        </p:txBody>
      </p:sp>
      <p:graphicFrame>
        <p:nvGraphicFramePr>
          <p:cNvPr id="8" name="Table 7"/>
          <p:cNvGraphicFramePr>
            <a:graphicFrameLocks noGrp="1"/>
          </p:cNvGraphicFramePr>
          <p:nvPr/>
        </p:nvGraphicFramePr>
        <p:xfrm>
          <a:off x="411480" y="1620316"/>
          <a:ext cx="11365991" cy="4826203"/>
        </p:xfrm>
        <a:graphic>
          <a:graphicData uri="http://schemas.openxmlformats.org/drawingml/2006/table">
            <a:tbl>
              <a:tblPr firstRow="1" bandRow="1">
                <a:tableStyleId>{5C22544A-7EE6-4342-B048-85BDC9FD1C3A}</a:tableStyleId>
              </a:tblPr>
              <a:tblGrid>
                <a:gridCol w="3108960"/>
                <a:gridCol w="8257031"/>
              </a:tblGrid>
              <a:tr h="536244">
                <a:tc>
                  <a:txBody>
                    <a:bodyPr wrap="square" lIns="25400" rIns="25400" tIns="25400" bIns="25400"/>
                    <a:lstStyle/>
                    <a:p>
                      <a:pPr algn="r"/>
                      <a:r>
                        <a:rPr sz="1100" b="1">
                          <a:solidFill>
                            <a:srgbClr val="FFFFFF"/>
                          </a:solidFill>
                        </a:rPr>
                        <a:t>الحقل</a:t>
                      </a:r>
                    </a:p>
                  </a:txBody>
                  <a:tcPr anchor="ctr">
                    <a:solidFill>
                      <a:srgbClr val="14532D"/>
                    </a:solidFill>
                  </a:tcPr>
                </a:tc>
                <a:tc>
                  <a:txBody>
                    <a:bodyPr wrap="square" lIns="25400" rIns="25400" tIns="25400" bIns="25400"/>
                    <a:lstStyle/>
                    <a:p>
                      <a:pPr algn="r"/>
                      <a:r>
                        <a:rPr sz="1100" b="1">
                          <a:solidFill>
                            <a:srgbClr val="FFFFFF"/>
                          </a:solidFill>
                        </a:rPr>
                        <a:t>القيمة</a:t>
                      </a:r>
                    </a:p>
                  </a:txBody>
                  <a:tcPr anchor="ctr">
                    <a:solidFill>
                      <a:srgbClr val="14532D"/>
                    </a:solidFill>
                  </a:tcPr>
                </a:tc>
              </a:tr>
              <a:tr h="536244">
                <a:tc>
                  <a:txBody>
                    <a:bodyPr wrap="square" lIns="25400" rIns="25400" tIns="25400" bIns="25400"/>
                    <a:lstStyle/>
                    <a:p>
                      <a:pPr algn="r"/>
                      <a:r>
                        <a:rPr sz="1000" b="1">
                          <a:solidFill>
                            <a:srgbClr val="14532D"/>
                          </a:solidFill>
                        </a:rPr>
                        <a:t>الحالة</a:t>
                      </a:r>
                    </a:p>
                  </a:txBody>
                  <a:tcPr anchor="ctr">
                    <a:solidFill>
                      <a:srgbClr val="ECFDF5"/>
                    </a:solidFill>
                  </a:tcPr>
                </a:tc>
                <a:tc>
                  <a:txBody>
                    <a:bodyPr wrap="square" lIns="25400" rIns="25400" tIns="25400" bIns="25400"/>
                    <a:lstStyle/>
                    <a:p>
                      <a:pPr algn="r"/>
                      <a:r>
                        <a:rPr sz="1000" b="0">
                          <a:solidFill>
                            <a:srgbClr val="111827"/>
                          </a:solidFill>
                        </a:rPr>
                        <a:t>مفتوح</a:t>
                      </a:r>
                    </a:p>
                  </a:txBody>
                  <a:tcPr anchor="ctr">
                    <a:solidFill>
                      <a:srgbClr val="FFFFFF"/>
                    </a:solidFill>
                  </a:tcPr>
                </a:tc>
              </a:tr>
              <a:tr h="536244">
                <a:tc>
                  <a:txBody>
                    <a:bodyPr wrap="square" lIns="25400" rIns="25400" tIns="25400" bIns="25400"/>
                    <a:lstStyle/>
                    <a:p>
                      <a:pPr algn="r"/>
                      <a:r>
                        <a:rPr sz="1000" b="1">
                          <a:solidFill>
                            <a:srgbClr val="14532D"/>
                          </a:solidFill>
                        </a:rPr>
                        <a:t>الحالة</a:t>
                      </a:r>
                    </a:p>
                  </a:txBody>
                  <a:tcPr anchor="ctr">
                    <a:solidFill>
                      <a:srgbClr val="ECFDF5"/>
                    </a:solidFill>
                  </a:tcPr>
                </a:tc>
                <a:tc>
                  <a:txBody>
                    <a:bodyPr wrap="square" lIns="25400" rIns="25400" tIns="25400" bIns="25400"/>
                    <a:lstStyle/>
                    <a:p>
                      <a:pPr algn="r"/>
                      <a:r>
                        <a:rPr sz="1000" b="0">
                          <a:solidFill>
                            <a:srgbClr val="111827"/>
                          </a:solidFill>
                        </a:rPr>
                        <a:t>مفتوح</a:t>
                      </a:r>
                    </a:p>
                  </a:txBody>
                  <a:tcPr anchor="ctr">
                    <a:solidFill>
                      <a:srgbClr val="FFFFFF"/>
                    </a:solidFill>
                  </a:tcPr>
                </a:tc>
              </a:tr>
              <a:tr h="536244">
                <a:tc>
                  <a:txBody>
                    <a:bodyPr wrap="square" lIns="25400" rIns="25400" tIns="25400" bIns="25400"/>
                    <a:lstStyle/>
                    <a:p>
                      <a:pPr algn="r"/>
                      <a:r>
                        <a:rPr sz="1000" b="1">
                          <a:solidFill>
                            <a:srgbClr val="14532D"/>
                          </a:solidFill>
                        </a:rPr>
                        <a:t>الحالة</a:t>
                      </a:r>
                    </a:p>
                  </a:txBody>
                  <a:tcPr anchor="ctr">
                    <a:solidFill>
                      <a:srgbClr val="ECFDF5"/>
                    </a:solidFill>
                  </a:tcPr>
                </a:tc>
                <a:tc>
                  <a:txBody>
                    <a:bodyPr wrap="square" lIns="25400" rIns="25400" tIns="25400" bIns="25400"/>
                    <a:lstStyle/>
                    <a:p>
                      <a:pPr algn="r"/>
                      <a:r>
                        <a:rPr sz="1000" b="0">
                          <a:solidFill>
                            <a:srgbClr val="111827"/>
                          </a:solidFill>
                        </a:rPr>
                        <a:t>مفتوح</a:t>
                      </a:r>
                    </a:p>
                  </a:txBody>
                  <a:tcPr anchor="ctr">
                    <a:solidFill>
                      <a:srgbClr val="FFFFFF"/>
                    </a:solidFill>
                  </a:tcPr>
                </a:tc>
              </a:tr>
              <a:tr h="536244">
                <a:tc>
                  <a:txBody>
                    <a:bodyPr wrap="square" lIns="25400" rIns="25400" tIns="25400" bIns="25400"/>
                    <a:lstStyle/>
                    <a:p>
                      <a:pPr algn="r"/>
                      <a:r>
                        <a:rPr sz="1000" b="1">
                          <a:solidFill>
                            <a:srgbClr val="14532D"/>
                          </a:solidFill>
                        </a:rPr>
                        <a:t>الحالة</a:t>
                      </a:r>
                    </a:p>
                  </a:txBody>
                  <a:tcPr anchor="ctr">
                    <a:solidFill>
                      <a:srgbClr val="ECFDF5"/>
                    </a:solidFill>
                  </a:tcPr>
                </a:tc>
                <a:tc>
                  <a:txBody>
                    <a:bodyPr wrap="square" lIns="25400" rIns="25400" tIns="25400" bIns="25400"/>
                    <a:lstStyle/>
                    <a:p>
                      <a:pPr algn="r"/>
                      <a:r>
                        <a:rPr sz="1000" b="0">
                          <a:solidFill>
                            <a:srgbClr val="111827"/>
                          </a:solidFill>
                        </a:rPr>
                        <a:t>مفتوح</a:t>
                      </a:r>
                    </a:p>
                  </a:txBody>
                  <a:tcPr anchor="ctr">
                    <a:solidFill>
                      <a:srgbClr val="FFFFFF"/>
                    </a:solidFill>
                  </a:tcPr>
                </a:tc>
              </a:tr>
              <a:tr h="536244">
                <a:tc>
                  <a:txBody>
                    <a:bodyPr wrap="square" lIns="25400" rIns="25400" tIns="25400" bIns="25400"/>
                    <a:lstStyle/>
                    <a:p>
                      <a:pPr algn="r"/>
                      <a:r>
                        <a:rPr sz="1000" b="1">
                          <a:solidFill>
                            <a:srgbClr val="14532D"/>
                          </a:solidFill>
                        </a:rPr>
                        <a:t>الحالة</a:t>
                      </a:r>
                    </a:p>
                  </a:txBody>
                  <a:tcPr anchor="ctr">
                    <a:solidFill>
                      <a:srgbClr val="ECFDF5"/>
                    </a:solidFill>
                  </a:tcPr>
                </a:tc>
                <a:tc>
                  <a:txBody>
                    <a:bodyPr wrap="square" lIns="25400" rIns="25400" tIns="25400" bIns="25400"/>
                    <a:lstStyle/>
                    <a:p>
                      <a:pPr algn="r"/>
                      <a:r>
                        <a:rPr sz="1000" b="0">
                          <a:solidFill>
                            <a:srgbClr val="111827"/>
                          </a:solidFill>
                        </a:rPr>
                        <a:t>مفتوح</a:t>
                      </a:r>
                    </a:p>
                  </a:txBody>
                  <a:tcPr anchor="ctr">
                    <a:solidFill>
                      <a:srgbClr val="FFFFFF"/>
                    </a:solidFill>
                  </a:tcPr>
                </a:tc>
              </a:tr>
              <a:tr h="536244">
                <a:tc>
                  <a:txBody>
                    <a:bodyPr wrap="square" lIns="25400" rIns="25400" tIns="25400" bIns="25400"/>
                    <a:lstStyle/>
                    <a:p>
                      <a:pPr algn="r"/>
                      <a:r>
                        <a:rPr sz="1000" b="1">
                          <a:solidFill>
                            <a:srgbClr val="14532D"/>
                          </a:solidFill>
                        </a:rPr>
                        <a:t>الحالة</a:t>
                      </a:r>
                    </a:p>
                  </a:txBody>
                  <a:tcPr anchor="ctr">
                    <a:solidFill>
                      <a:srgbClr val="ECFDF5"/>
                    </a:solidFill>
                  </a:tcPr>
                </a:tc>
                <a:tc>
                  <a:txBody>
                    <a:bodyPr wrap="square" lIns="25400" rIns="25400" tIns="25400" bIns="25400"/>
                    <a:lstStyle/>
                    <a:p>
                      <a:pPr algn="r"/>
                      <a:r>
                        <a:rPr sz="1000" b="0">
                          <a:solidFill>
                            <a:srgbClr val="111827"/>
                          </a:solidFill>
                        </a:rPr>
                        <a:t>مفتوح</a:t>
                      </a:r>
                    </a:p>
                  </a:txBody>
                  <a:tcPr anchor="ctr">
                    <a:solidFill>
                      <a:srgbClr val="FFFFFF"/>
                    </a:solidFill>
                  </a:tcPr>
                </a:tc>
              </a:tr>
              <a:tr h="536244">
                <a:tc>
                  <a:txBody>
                    <a:bodyPr wrap="square" lIns="25400" rIns="25400" tIns="25400" bIns="25400"/>
                    <a:lstStyle/>
                    <a:p>
                      <a:pPr algn="r"/>
                      <a:r>
                        <a:rPr sz="1000" b="1">
                          <a:solidFill>
                            <a:srgbClr val="14532D"/>
                          </a:solidFill>
                        </a:rPr>
                        <a:t>الحالة</a:t>
                      </a:r>
                    </a:p>
                  </a:txBody>
                  <a:tcPr anchor="ctr">
                    <a:solidFill>
                      <a:srgbClr val="ECFDF5"/>
                    </a:solidFill>
                  </a:tcPr>
                </a:tc>
                <a:tc>
                  <a:txBody>
                    <a:bodyPr wrap="square" lIns="25400" rIns="25400" tIns="25400" bIns="25400"/>
                    <a:lstStyle/>
                    <a:p>
                      <a:pPr algn="r"/>
                      <a:r>
                        <a:rPr sz="1000" b="0">
                          <a:solidFill>
                            <a:srgbClr val="111827"/>
                          </a:solidFill>
                        </a:rPr>
                        <a:t>مفتوح</a:t>
                      </a:r>
                    </a:p>
                  </a:txBody>
                  <a:tcPr anchor="ctr">
                    <a:solidFill>
                      <a:srgbClr val="FFFFFF"/>
                    </a:solidFill>
                  </a:tcPr>
                </a:tc>
              </a:tr>
              <a:tr h="536251">
                <a:tc>
                  <a:txBody>
                    <a:bodyPr wrap="square" lIns="25400" rIns="25400" tIns="25400" bIns="25400"/>
                    <a:lstStyle/>
                    <a:p>
                      <a:pPr algn="r"/>
                      <a:r>
                        <a:rPr sz="1000" b="1">
                          <a:solidFill>
                            <a:srgbClr val="14532D"/>
                          </a:solidFill>
                        </a:rPr>
                        <a:t>الحالة</a:t>
                      </a:r>
                    </a:p>
                  </a:txBody>
                  <a:tcPr anchor="ctr">
                    <a:solidFill>
                      <a:srgbClr val="ECFDF5"/>
                    </a:solidFill>
                  </a:tcPr>
                </a:tc>
                <a:tc>
                  <a:txBody>
                    <a:bodyPr wrap="square" lIns="25400" rIns="25400" tIns="25400" bIns="25400"/>
                    <a:lstStyle/>
                    <a:p>
                      <a:pPr algn="r"/>
                      <a:r>
                        <a:rPr sz="1000" b="0">
                          <a:solidFill>
                            <a:srgbClr val="111827"/>
                          </a:solidFill>
                        </a:rPr>
                        <a:t>مفتوح</a:t>
                      </a:r>
                    </a:p>
                  </a:txBody>
                  <a:tcPr anchor="ctr">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